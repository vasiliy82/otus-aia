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99" r:id="rId8"/>
    <p:sldId id="300" r:id="rId9"/>
    <p:sldId id="301" r:id="rId10"/>
    <p:sldId id="261" r:id="rId11"/>
    <p:sldId id="262" r:id="rId12"/>
    <p:sldId id="302" r:id="rId13"/>
    <p:sldId id="303" r:id="rId14"/>
    <p:sldId id="304" r:id="rId15"/>
    <p:sldId id="306" r:id="rId16"/>
    <p:sldId id="305" r:id="rId17"/>
    <p:sldId id="307" r:id="rId18"/>
    <p:sldId id="308" r:id="rId19"/>
    <p:sldId id="309" r:id="rId20"/>
    <p:sldId id="310" r:id="rId21"/>
    <p:sldId id="263" r:id="rId22"/>
    <p:sldId id="264" r:id="rId23"/>
    <p:sldId id="265" r:id="rId24"/>
    <p:sldId id="266" r:id="rId2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Medium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3A4CB6-A5B4-455F-8E1C-E71F6E80C026}">
  <a:tblStyle styleId="{783A4CB6-A5B4-455F-8E1C-E71F6E80C0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200" y="-36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233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615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3036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570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135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763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1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5863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2086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605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024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284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{783A4CB6-A5B4-455F-8E1C-E71F6E80C026}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{783A4CB6-A5B4-455F-8E1C-E71F6E80C026}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AI-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ассистент кредитного аналитика </a:t>
            </a:r>
            <a:endParaRPr lang="ru-RU"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spc="1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AI-</a:t>
            </a:r>
            <a:r>
              <a:rPr lang="ru-RU" sz="1900" spc="1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архитектор</a:t>
            </a:r>
            <a:endParaRPr sz="100" spc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90;p94">
            <a:extLst>
              <a:ext uri="{FF2B5EF4-FFF2-40B4-BE49-F238E27FC236}">
                <a16:creationId xmlns:a16="http://schemas.microsoft.com/office/drawing/2014/main" id="{59435F44-C6F3-4D66-B887-843EBC091772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" b="664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en-US" sz="3000" dirty="0"/>
              <a:t>AI-</a:t>
            </a:r>
            <a:r>
              <a:rPr lang="ru-RU" sz="3000" dirty="0"/>
              <a:t>ассистент кредитного аналитика </a:t>
            </a:r>
            <a:br>
              <a:rPr lang="ru-RU" sz="30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Василий Селезнев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Архитектор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План защиты</a:t>
            </a:r>
            <a:endParaRPr dirty="0"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74786D-D9B6-4EE0-8EDA-26FA8ABD5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7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E4CD58-3DEA-4FDB-B04C-D255F7E2D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5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642348-9FAA-4FEF-9A80-B8A9E50D5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" y="350096"/>
            <a:ext cx="9139141" cy="444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8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B44EC3-991E-4C6F-901C-8EB0E9B74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Архитектура </a:t>
            </a:r>
            <a:r>
              <a:rPr lang="en-US" sz="3000" dirty="0"/>
              <a:t>PoC: </a:t>
            </a:r>
            <a:r>
              <a:rPr lang="ru-RU" sz="3000" dirty="0"/>
              <a:t>контекст системы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C995A4-9B1F-4CF8-BB5D-B2437A28E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296" y="636107"/>
            <a:ext cx="2293408" cy="42339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871C75-62E0-4D9F-B2D6-4945CEBAA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311" y="636107"/>
            <a:ext cx="6381377" cy="4405271"/>
          </a:xfrm>
          <a:prstGeom prst="rect">
            <a:avLst/>
          </a:prstGeom>
        </p:spPr>
      </p:pic>
      <p:sp>
        <p:nvSpPr>
          <p:cNvPr id="9" name="Google Shape;204;p41">
            <a:extLst>
              <a:ext uri="{FF2B5EF4-FFF2-40B4-BE49-F238E27FC236}">
                <a16:creationId xmlns:a16="http://schemas.microsoft.com/office/drawing/2014/main" id="{2B897324-E15C-4C1F-B9B6-8B5C41C25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Архитектура </a:t>
            </a:r>
            <a:r>
              <a:rPr lang="en-US" sz="3000" dirty="0"/>
              <a:t>PoC: </a:t>
            </a:r>
            <a:r>
              <a:rPr lang="ru-RU" sz="3000" dirty="0"/>
              <a:t>контейнеры</a:t>
            </a: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3358496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04;p41">
            <a:extLst>
              <a:ext uri="{FF2B5EF4-FFF2-40B4-BE49-F238E27FC236}">
                <a16:creationId xmlns:a16="http://schemas.microsoft.com/office/drawing/2014/main" id="{2B897324-E15C-4C1F-B9B6-8B5C41C25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Архитектура </a:t>
            </a:r>
            <a:r>
              <a:rPr lang="en-US" sz="2800" dirty="0"/>
              <a:t>PoC: </a:t>
            </a:r>
            <a:r>
              <a:rPr lang="ru-RU" sz="2800" dirty="0"/>
              <a:t>компоненты </a:t>
            </a:r>
            <a:r>
              <a:rPr lang="en-US" sz="2800" dirty="0" err="1"/>
              <a:t>FastAPI</a:t>
            </a:r>
            <a:r>
              <a:rPr lang="en-US" sz="2800" dirty="0"/>
              <a:t> Backend</a:t>
            </a:r>
            <a:endParaRPr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6809E6-7787-440C-B895-BB2E7243B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13" y="636107"/>
            <a:ext cx="7284573" cy="420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91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04;p41">
            <a:extLst>
              <a:ext uri="{FF2B5EF4-FFF2-40B4-BE49-F238E27FC236}">
                <a16:creationId xmlns:a16="http://schemas.microsoft.com/office/drawing/2014/main" id="{2B897324-E15C-4C1F-B9B6-8B5C41C25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Архитектура </a:t>
            </a:r>
            <a:r>
              <a:rPr lang="en-US" sz="3000" dirty="0"/>
              <a:t>PoC: sequence diagram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B8B0B8-0DA6-4931-BD4C-06B4FD950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3245"/>
            <a:ext cx="9144000" cy="297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21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04;p41">
            <a:extLst>
              <a:ext uri="{FF2B5EF4-FFF2-40B4-BE49-F238E27FC236}">
                <a16:creationId xmlns:a16="http://schemas.microsoft.com/office/drawing/2014/main" id="{2B897324-E15C-4C1F-B9B6-8B5C41C25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PoC:</a:t>
            </a:r>
            <a:r>
              <a:rPr lang="ru-RU" sz="3000" dirty="0"/>
              <a:t> сокращенный код основного </a:t>
            </a:r>
            <a:r>
              <a:rPr lang="en-US" sz="3000" dirty="0"/>
              <a:t>workflow</a:t>
            </a:r>
            <a:endParaRPr sz="3000" dirty="0"/>
          </a:p>
        </p:txBody>
      </p:sp>
      <p:sp>
        <p:nvSpPr>
          <p:cNvPr id="5" name="Google Shape;590;p73">
            <a:extLst>
              <a:ext uri="{FF2B5EF4-FFF2-40B4-BE49-F238E27FC236}">
                <a16:creationId xmlns:a16="http://schemas.microsoft.com/office/drawing/2014/main" id="{0E9CF8FA-112F-4CC6-8A82-6899A01F1CB9}"/>
              </a:ext>
            </a:extLst>
          </p:cNvPr>
          <p:cNvSpPr txBox="1">
            <a:spLocks/>
          </p:cNvSpPr>
          <p:nvPr/>
        </p:nvSpPr>
        <p:spPr>
          <a:xfrm>
            <a:off x="565150" y="636107"/>
            <a:ext cx="8043250" cy="43232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build_workflow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graph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StateGraph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AskState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input_guardrails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node_input_guardrails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classify_intent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node_classify_intent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vector_retrieve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node_vector_retrieve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graph_expand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node_graph_expand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rbac_filter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node_rbac_filter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generate_answer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node_generate_answer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graph.set_entry_point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input_guardrails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graph.add_conditional_edges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classify_intent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intent_route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risk_analysis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financial_lookup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"compliance"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vector_retrieve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"general"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vector_retrieve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 marL="133350" indent="0">
              <a:spcBef>
                <a:spcPts val="0"/>
              </a:spcBef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graph.add_edge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vector_retrieve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graph_expand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graph.add_edge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graph_expand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rbac_filter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graph.add_edge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rbac_filter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generate_answer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graph.add_edge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generate_answer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output_guardrails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3350" indent="0">
              <a:spcBef>
                <a:spcPts val="0"/>
              </a:spcBef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graph.compile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Google Shape;204;p41">
            <a:extLst>
              <a:ext uri="{FF2B5EF4-FFF2-40B4-BE49-F238E27FC236}">
                <a16:creationId xmlns:a16="http://schemas.microsoft.com/office/drawing/2014/main" id="{1DC7449F-758A-4F0F-BC0D-FE8BBEDEEC10}"/>
              </a:ext>
            </a:extLst>
          </p:cNvPr>
          <p:cNvSpPr txBox="1">
            <a:spLocks/>
          </p:cNvSpPr>
          <p:nvPr/>
        </p:nvSpPr>
        <p:spPr>
          <a:xfrm>
            <a:off x="6070600" y="780988"/>
            <a:ext cx="2400300" cy="221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bg1">
                    <a:lumMod val="65000"/>
                  </a:schemeClr>
                </a:solidFill>
              </a:rPr>
              <a:t>Запрос проходит через защитные проверки, классификацию намерения, поиск, расширение по графу, RBAC-фильтрацию и генерацию ответа.</a:t>
            </a:r>
            <a:endParaRPr lang="en-US" sz="3000" b="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022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04;p41">
            <a:extLst>
              <a:ext uri="{FF2B5EF4-FFF2-40B4-BE49-F238E27FC236}">
                <a16:creationId xmlns:a16="http://schemas.microsoft.com/office/drawing/2014/main" id="{2B897324-E15C-4C1F-B9B6-8B5C41C25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PoC: </a:t>
            </a:r>
            <a:r>
              <a:rPr lang="ru-RU" sz="3000" dirty="0"/>
              <a:t>результат запуска</a:t>
            </a:r>
            <a:endParaRPr sz="3000" dirty="0"/>
          </a:p>
        </p:txBody>
      </p:sp>
      <p:sp>
        <p:nvSpPr>
          <p:cNvPr id="5" name="Google Shape;590;p73">
            <a:extLst>
              <a:ext uri="{FF2B5EF4-FFF2-40B4-BE49-F238E27FC236}">
                <a16:creationId xmlns:a16="http://schemas.microsoft.com/office/drawing/2014/main" id="{0E9CF8FA-112F-4CC6-8A82-6899A01F1CB9}"/>
              </a:ext>
            </a:extLst>
          </p:cNvPr>
          <p:cNvSpPr txBox="1">
            <a:spLocks/>
          </p:cNvSpPr>
          <p:nvPr/>
        </p:nvSpPr>
        <p:spPr>
          <a:xfrm>
            <a:off x="565150" y="636107"/>
            <a:ext cx="8043250" cy="43232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b="1" dirty="0">
                <a:solidFill>
                  <a:schemeClr val="tx1"/>
                </a:solidFill>
              </a:rPr>
              <a:t>(.</a:t>
            </a:r>
            <a:r>
              <a:rPr lang="en-US" sz="700" b="1" dirty="0" err="1">
                <a:solidFill>
                  <a:schemeClr val="tx1"/>
                </a:solidFill>
              </a:rPr>
              <a:t>venv</a:t>
            </a:r>
            <a:r>
              <a:rPr lang="en-US" sz="700" b="1" dirty="0">
                <a:solidFill>
                  <a:schemeClr val="tx1"/>
                </a:solidFill>
              </a:rPr>
              <a:t>) </a:t>
            </a:r>
            <a:r>
              <a:rPr lang="en-US" sz="700" b="1" dirty="0" err="1">
                <a:solidFill>
                  <a:schemeClr val="tx1"/>
                </a:solidFill>
              </a:rPr>
              <a:t>root@ubuntu-llm</a:t>
            </a:r>
            <a:r>
              <a:rPr lang="en-US" sz="700" b="1" dirty="0">
                <a:solidFill>
                  <a:schemeClr val="tx1"/>
                </a:solidFill>
              </a:rPr>
              <a:t>:~/</a:t>
            </a:r>
            <a:r>
              <a:rPr lang="en-US" sz="700" b="1" dirty="0" err="1">
                <a:solidFill>
                  <a:schemeClr val="tx1"/>
                </a:solidFill>
              </a:rPr>
              <a:t>otus-aia</a:t>
            </a:r>
            <a:r>
              <a:rPr lang="en-US" sz="700" b="1" dirty="0">
                <a:solidFill>
                  <a:schemeClr val="tx1"/>
                </a:solidFill>
              </a:rPr>
              <a:t># curl -s -X POST http://localhost:8000/ask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b="1" dirty="0">
                <a:solidFill>
                  <a:schemeClr val="tx1"/>
                </a:solidFill>
              </a:rPr>
              <a:t>  -H "Content-Type: application/json"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b="1" dirty="0">
                <a:solidFill>
                  <a:schemeClr val="tx1"/>
                </a:solidFill>
              </a:rPr>
              <a:t>  -d '{"query":"</a:t>
            </a:r>
            <a:r>
              <a:rPr lang="ru-RU" sz="700" b="1" dirty="0">
                <a:solidFill>
                  <a:schemeClr val="tx1"/>
                </a:solidFill>
              </a:rPr>
              <a:t>Снижение выручки и политика банка",</a:t>
            </a:r>
            <a:r>
              <a:rPr lang="ru-RU" sz="700" b="1" dirty="0">
                <a:solidFill>
                  <a:schemeClr val="tx1"/>
                </a:solidFill>
                <a:highlight>
                  <a:srgbClr val="FFFF00"/>
                </a:highlight>
              </a:rPr>
              <a:t>"</a:t>
            </a:r>
            <a:r>
              <a:rPr lang="en-US" sz="7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role":"analyst</a:t>
            </a:r>
            <a:r>
              <a:rPr lang="en-US" sz="700" b="1" dirty="0">
                <a:solidFill>
                  <a:schemeClr val="tx1"/>
                </a:solidFill>
                <a:highlight>
                  <a:srgbClr val="FFFF00"/>
                </a:highlight>
              </a:rPr>
              <a:t>"</a:t>
            </a:r>
            <a:r>
              <a:rPr lang="en-US" sz="700" b="1" dirty="0">
                <a:solidFill>
                  <a:schemeClr val="tx1"/>
                </a:solidFill>
              </a:rPr>
              <a:t>}'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dirty="0">
                <a:solidFill>
                  <a:schemeClr val="tx1"/>
                </a:solidFill>
              </a:rPr>
              <a:t>{"answer":"**PoC </a:t>
            </a:r>
            <a:r>
              <a:rPr lang="en-US" sz="700" dirty="0" err="1">
                <a:solidFill>
                  <a:schemeClr val="tx1"/>
                </a:solidFill>
              </a:rPr>
              <a:t>GraphRAG</a:t>
            </a:r>
            <a:r>
              <a:rPr lang="en-US" sz="700" dirty="0">
                <a:solidFill>
                  <a:schemeClr val="tx1"/>
                </a:solidFill>
              </a:rPr>
              <a:t> (</a:t>
            </a:r>
            <a:r>
              <a:rPr lang="en-US" sz="700" dirty="0" err="1">
                <a:solidFill>
                  <a:schemeClr val="tx1"/>
                </a:solidFill>
              </a:rPr>
              <a:t>MockLLM</a:t>
            </a:r>
            <a:r>
              <a:rPr lang="en-US" sz="700" dirty="0">
                <a:solidFill>
                  <a:schemeClr val="tx1"/>
                </a:solidFill>
              </a:rPr>
              <a:t>)** — </a:t>
            </a:r>
            <a:r>
              <a:rPr lang="ru-RU" sz="700" dirty="0">
                <a:solidFill>
                  <a:schemeClr val="tx1"/>
                </a:solidFill>
              </a:rPr>
              <a:t>роль `</a:t>
            </a:r>
            <a:r>
              <a:rPr lang="en-US" sz="700" dirty="0">
                <a:solidFill>
                  <a:schemeClr val="tx1"/>
                </a:solidFill>
              </a:rPr>
              <a:t>analyst`, intent `</a:t>
            </a:r>
            <a:r>
              <a:rPr lang="en-US" sz="700" dirty="0" err="1">
                <a:solidFill>
                  <a:schemeClr val="tx1"/>
                </a:solidFill>
              </a:rPr>
              <a:t>risk_analysis</a:t>
            </a:r>
            <a:r>
              <a:rPr lang="en-US" sz="700" dirty="0">
                <a:solidFill>
                  <a:schemeClr val="tx1"/>
                </a:solidFill>
              </a:rPr>
              <a:t>`.\n</a:t>
            </a:r>
            <a:r>
              <a:rPr lang="ru-RU" sz="700" dirty="0">
                <a:solidFill>
                  <a:schemeClr val="tx1"/>
                </a:solidFill>
              </a:rPr>
              <a:t>Запрос: Снижение выручки и политика банка\</a:t>
            </a:r>
            <a:r>
              <a:rPr lang="en-US" sz="700" dirty="0">
                <a:solidFill>
                  <a:schemeClr val="tx1"/>
                </a:solidFill>
              </a:rPr>
              <a:t>n\n**</a:t>
            </a:r>
            <a:r>
              <a:rPr lang="ru-RU" sz="700" dirty="0">
                <a:solidFill>
                  <a:schemeClr val="tx1"/>
                </a:solidFill>
              </a:rPr>
              <a:t>Финансовые показатели:**\</a:t>
            </a:r>
            <a:r>
              <a:rPr lang="en-US" sz="700" dirty="0">
                <a:solidFill>
                  <a:schemeClr val="tx1"/>
                </a:solidFill>
              </a:rPr>
              <a:t>n</a:t>
            </a:r>
            <a:r>
              <a:rPr lang="ru-RU" sz="700" dirty="0">
                <a:solidFill>
                  <a:schemeClr val="tx1"/>
                </a:solidFill>
              </a:rPr>
              <a:t>По финансовым данным компании ООО Ромашка выручка снизилась на 38%, прибыль за последний год отрицательная: -3000000 руб.\</a:t>
            </a:r>
            <a:r>
              <a:rPr lang="en-US" sz="700" dirty="0">
                <a:solidFill>
                  <a:schemeClr val="tx1"/>
                </a:solidFill>
              </a:rPr>
              <a:t>n</a:t>
            </a:r>
            <a:r>
              <a:rPr lang="ru-RU" sz="700" dirty="0">
                <a:solidFill>
                  <a:schemeClr val="tx1"/>
                </a:solidFill>
              </a:rPr>
              <a:t>Флаги риска: </a:t>
            </a:r>
            <a:r>
              <a:rPr lang="en-US" sz="700" dirty="0">
                <a:solidFill>
                  <a:schemeClr val="tx1"/>
                </a:solidFill>
              </a:rPr>
              <a:t>revenue_drop_gt_30, </a:t>
            </a:r>
            <a:r>
              <a:rPr lang="en-US" sz="700" dirty="0" err="1">
                <a:solidFill>
                  <a:schemeClr val="tx1"/>
                </a:solidFill>
              </a:rPr>
              <a:t>negative_profit</a:t>
            </a:r>
            <a:r>
              <a:rPr lang="en-US" sz="700" dirty="0">
                <a:solidFill>
                  <a:schemeClr val="tx1"/>
                </a:solidFill>
              </a:rPr>
              <a:t>.\n\n**</a:t>
            </a:r>
            <a:r>
              <a:rPr lang="ru-RU" sz="700" dirty="0">
                <a:solidFill>
                  <a:schemeClr val="tx1"/>
                </a:solidFill>
              </a:rPr>
              <a:t>Вывод:** на основании доступных фрагментов и связей графа знаний предварительный анализ возможен с учётом нормативных и политических оснований.\</a:t>
            </a:r>
            <a:r>
              <a:rPr lang="en-US" sz="700" dirty="0">
                <a:solidFill>
                  <a:schemeClr val="tx1"/>
                </a:solidFill>
              </a:rPr>
              <a:t>n\n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**</a:t>
            </a:r>
            <a:r>
              <a:rPr lang="ru-RU" sz="700" dirty="0">
                <a:solidFill>
                  <a:schemeClr val="tx1"/>
                </a:solidFill>
                <a:highlight>
                  <a:srgbClr val="FFFF00"/>
                </a:highlight>
              </a:rPr>
              <a:t>Источники:**\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n1. [ch_002] </a:t>
            </a:r>
            <a:r>
              <a:rPr lang="ru-RU" sz="700" dirty="0">
                <a:solidFill>
                  <a:schemeClr val="tx1"/>
                </a:solidFill>
                <a:highlight>
                  <a:srgbClr val="FFFF00"/>
                </a:highlight>
              </a:rPr>
              <a:t>Внутренняя политика оценки контрагентов: При снижении выручки более чем на 30% аналитик обязан запросить дополнительные документы.…\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n2. [ch_001] </a:t>
            </a:r>
            <a:r>
              <a:rPr lang="ru-RU" sz="700" dirty="0">
                <a:solidFill>
                  <a:schemeClr val="tx1"/>
                </a:solidFill>
                <a:highlight>
                  <a:srgbClr val="FFFF00"/>
                </a:highlight>
              </a:rPr>
              <a:t>Закон о банковской деятельности: Кредитная организация обязана идентифицировать клиента и оценивать риски операций.…</a:t>
            </a:r>
            <a:r>
              <a:rPr lang="ru-RU" sz="700" dirty="0">
                <a:solidFill>
                  <a:schemeClr val="tx1"/>
                </a:solidFill>
              </a:rPr>
              <a:t>","</a:t>
            </a:r>
            <a:r>
              <a:rPr lang="en-US" sz="700" dirty="0">
                <a:solidFill>
                  <a:schemeClr val="tx1"/>
                </a:solidFill>
              </a:rPr>
              <a:t>citations":[{"chunk_id":2,"external_id":"ch_002","document_title":"</a:t>
            </a:r>
            <a:r>
              <a:rPr lang="ru-RU" sz="700" dirty="0">
                <a:solidFill>
                  <a:schemeClr val="tx1"/>
                </a:solidFill>
              </a:rPr>
              <a:t>Внутренняя политика оценки контрагентов","</a:t>
            </a:r>
            <a:r>
              <a:rPr lang="en-US" sz="700" dirty="0" err="1">
                <a:solidFill>
                  <a:schemeClr val="tx1"/>
                </a:solidFill>
              </a:rPr>
              <a:t>node_id":null,"node_type":null,"label":null</a:t>
            </a:r>
            <a:r>
              <a:rPr lang="en-US" sz="700" dirty="0">
                <a:solidFill>
                  <a:schemeClr val="tx1"/>
                </a:solidFill>
              </a:rPr>
              <a:t>},{"chunk_id":1,"external_id":"ch_001","document_title":"</a:t>
            </a:r>
            <a:r>
              <a:rPr lang="ru-RU" sz="700" dirty="0">
                <a:solidFill>
                  <a:schemeClr val="tx1"/>
                </a:solidFill>
              </a:rPr>
              <a:t>Закон о банковской деятельности","</a:t>
            </a:r>
            <a:r>
              <a:rPr lang="en-US" sz="700" dirty="0" err="1">
                <a:solidFill>
                  <a:schemeClr val="tx1"/>
                </a:solidFill>
              </a:rPr>
              <a:t>node_id":null,"node_type":null,"label":null</a:t>
            </a:r>
            <a:r>
              <a:rPr lang="en-US" sz="700" dirty="0">
                <a:solidFill>
                  <a:schemeClr val="tx1"/>
                </a:solidFill>
              </a:rPr>
              <a:t>},{"chunk_id":null,"external_id":null,"document_title":null,"node_id":"company:3455054291","node_type":"Company","label":"</a:t>
            </a:r>
            <a:r>
              <a:rPr lang="ru-RU" sz="700" dirty="0">
                <a:solidFill>
                  <a:schemeClr val="tx1"/>
                </a:solidFill>
              </a:rPr>
              <a:t>ООО Ромашка"},{"</a:t>
            </a:r>
            <a:r>
              <a:rPr lang="en-US" sz="700" dirty="0">
                <a:solidFill>
                  <a:schemeClr val="tx1"/>
                </a:solidFill>
              </a:rPr>
              <a:t>chunk_id":null,"external_id":null,"document_title":null,"node_id":"document:policy_001","node_type":"Document","label":"</a:t>
            </a:r>
            <a:r>
              <a:rPr lang="ru-RU" sz="700" dirty="0">
                <a:solidFill>
                  <a:schemeClr val="tx1"/>
                </a:solidFill>
              </a:rPr>
              <a:t>Внутренняя политика оценки контрагентов"},{"</a:t>
            </a:r>
            <a:r>
              <a:rPr lang="en-US" sz="700" dirty="0">
                <a:solidFill>
                  <a:schemeClr val="tx1"/>
                </a:solidFill>
              </a:rPr>
              <a:t>chunk_id":null,"external_id":null,"document_title":null,"node_id":"document:risk_001","node_type":"Document","label":"</a:t>
            </a:r>
            <a:r>
              <a:rPr lang="ru-RU" sz="700" dirty="0">
                <a:solidFill>
                  <a:schemeClr val="tx1"/>
                </a:solidFill>
              </a:rPr>
              <a:t>Методика оценки финансового риска"},{"</a:t>
            </a:r>
            <a:r>
              <a:rPr lang="en-US" sz="700" dirty="0">
                <a:solidFill>
                  <a:schemeClr val="tx1"/>
                </a:solidFill>
              </a:rPr>
              <a:t>chunk_id":null,"external_id":null,"document_title":null,"node_id":"legal_act:banking_law","node_type":"LegalAct","label":"</a:t>
            </a:r>
            <a:r>
              <a:rPr lang="ru-RU" sz="700" dirty="0">
                <a:solidFill>
                  <a:schemeClr val="tx1"/>
                </a:solidFill>
              </a:rPr>
              <a:t>Закон о банковской деятельности"},{"</a:t>
            </a:r>
            <a:r>
              <a:rPr lang="en-US" sz="700" dirty="0">
                <a:solidFill>
                  <a:schemeClr val="tx1"/>
                </a:solidFill>
              </a:rPr>
              <a:t>chunk_id":null,"external_id":null,"document_title":null,"node_id":"risk_factor:revenue_drop","node_type":"RiskFactor","label":"</a:t>
            </a:r>
            <a:r>
              <a:rPr lang="ru-RU" sz="700" dirty="0">
                <a:solidFill>
                  <a:schemeClr val="tx1"/>
                </a:solidFill>
              </a:rPr>
              <a:t>Снижение выручки &gt; 30%"}],"</a:t>
            </a:r>
            <a:r>
              <a:rPr lang="en-US" sz="700" dirty="0">
                <a:solidFill>
                  <a:schemeClr val="tx1"/>
                </a:solidFill>
              </a:rPr>
              <a:t>trace_id":"6d7fb09bc100576d56baef99e3124b75","blocked":false,"reason":null,"audit_steps":["</a:t>
            </a:r>
            <a:r>
              <a:rPr lang="en-US" sz="700" dirty="0" err="1">
                <a:solidFill>
                  <a:schemeClr val="tx1"/>
                </a:solidFill>
              </a:rPr>
              <a:t>input_guardrails</a:t>
            </a:r>
            <a:r>
              <a:rPr lang="en-US" sz="700" dirty="0">
                <a:solidFill>
                  <a:schemeClr val="tx1"/>
                </a:solidFill>
              </a:rPr>
              <a:t>: ok","</a:t>
            </a:r>
            <a:r>
              <a:rPr lang="en-US" sz="700" dirty="0" err="1">
                <a:solidFill>
                  <a:schemeClr val="tx1"/>
                </a:solidFill>
              </a:rPr>
              <a:t>classify_intent</a:t>
            </a:r>
            <a:r>
              <a:rPr lang="en-US" sz="700" dirty="0">
                <a:solidFill>
                  <a:schemeClr val="tx1"/>
                </a:solidFill>
              </a:rPr>
              <a:t>: risk_analysis","</a:t>
            </a:r>
            <a:r>
              <a:rPr lang="en-US" sz="700" dirty="0" err="1">
                <a:solidFill>
                  <a:schemeClr val="tx1"/>
                </a:solidFill>
              </a:rPr>
              <a:t>financial_lookup</a:t>
            </a:r>
            <a:r>
              <a:rPr lang="en-US" sz="700" dirty="0">
                <a:solidFill>
                  <a:schemeClr val="tx1"/>
                </a:solidFill>
              </a:rPr>
              <a:t>: 2 risk flags","</a:t>
            </a:r>
            <a:r>
              <a:rPr lang="en-US" sz="700" dirty="0" err="1">
                <a:solidFill>
                  <a:schemeClr val="tx1"/>
                </a:solidFill>
              </a:rPr>
              <a:t>vector_retrieve</a:t>
            </a:r>
            <a:r>
              <a:rPr lang="en-US" sz="700" dirty="0">
                <a:solidFill>
                  <a:schemeClr val="tx1"/>
                </a:solidFill>
              </a:rPr>
              <a:t>: 3 chunks","</a:t>
            </a:r>
            <a:r>
              <a:rPr lang="en-US" sz="700" dirty="0" err="1">
                <a:solidFill>
                  <a:schemeClr val="tx1"/>
                </a:solidFill>
              </a:rPr>
              <a:t>graph_expand</a:t>
            </a:r>
            <a:r>
              <a:rPr lang="en-US" sz="700" dirty="0">
                <a:solidFill>
                  <a:schemeClr val="tx1"/>
                </a:solidFill>
              </a:rPr>
              <a:t>: 8 nodes, 5 graph chunks",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"</a:t>
            </a:r>
            <a:r>
              <a:rPr lang="en-US" sz="700" dirty="0" err="1">
                <a:solidFill>
                  <a:schemeClr val="tx1"/>
                </a:solidFill>
                <a:highlight>
                  <a:srgbClr val="FFFF00"/>
                </a:highlight>
              </a:rPr>
              <a:t>rbac_filter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: 2/3 allowed","</a:t>
            </a:r>
            <a:r>
              <a:rPr lang="en-US" sz="700" dirty="0" err="1">
                <a:solidFill>
                  <a:schemeClr val="tx1"/>
                </a:solidFill>
                <a:highlight>
                  <a:srgbClr val="FFFF00"/>
                </a:highlight>
              </a:rPr>
              <a:t>rerank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: 2 ranked"</a:t>
            </a:r>
            <a:r>
              <a:rPr lang="en-US" sz="700" dirty="0">
                <a:solidFill>
                  <a:schemeClr val="tx1"/>
                </a:solidFill>
              </a:rPr>
              <a:t>,"generate_answer","</a:t>
            </a:r>
            <a:r>
              <a:rPr lang="en-US" sz="700" dirty="0" err="1">
                <a:solidFill>
                  <a:schemeClr val="tx1"/>
                </a:solidFill>
              </a:rPr>
              <a:t>output_guardrails</a:t>
            </a:r>
            <a:r>
              <a:rPr lang="en-US" sz="700" dirty="0">
                <a:solidFill>
                  <a:schemeClr val="tx1"/>
                </a:solidFill>
              </a:rPr>
              <a:t>: ok"],"intent":"risk_analysis","</a:t>
            </a:r>
            <a:r>
              <a:rPr lang="en-US" sz="700" dirty="0" err="1">
                <a:solidFill>
                  <a:schemeClr val="tx1"/>
                </a:solidFill>
              </a:rPr>
              <a:t>financial_facts</a:t>
            </a:r>
            <a:r>
              <a:rPr lang="en-US" sz="700" dirty="0">
                <a:solidFill>
                  <a:schemeClr val="tx1"/>
                </a:solidFill>
              </a:rPr>
              <a:t>":{"inn":"7700000001","company_name":"</a:t>
            </a:r>
            <a:r>
              <a:rPr lang="ru-RU" sz="700" dirty="0">
                <a:solidFill>
                  <a:schemeClr val="tx1"/>
                </a:solidFill>
              </a:rPr>
              <a:t>ООО Ромашка","</a:t>
            </a:r>
            <a:r>
              <a:rPr lang="en-US" sz="700" dirty="0">
                <a:solidFill>
                  <a:schemeClr val="tx1"/>
                </a:solidFill>
              </a:rPr>
              <a:t>revenue_2023":100000000,"revenue_2024":62000000,"revenue_drop_pct":38,"profit_2024":-3000000,"risk_flags":["revenue_drop_gt_30","negative_profit"]}}(.</a:t>
            </a:r>
            <a:r>
              <a:rPr lang="en-US" sz="700" dirty="0" err="1">
                <a:solidFill>
                  <a:schemeClr val="tx1"/>
                </a:solidFill>
              </a:rPr>
              <a:t>venv</a:t>
            </a:r>
            <a:r>
              <a:rPr lang="en-US" sz="700" dirty="0">
                <a:solidFill>
                  <a:schemeClr val="tx1"/>
                </a:solidFill>
              </a:rPr>
              <a:t>) </a:t>
            </a:r>
            <a:r>
              <a:rPr lang="en-US" sz="700" dirty="0" err="1">
                <a:solidFill>
                  <a:schemeClr val="tx1"/>
                </a:solidFill>
              </a:rPr>
              <a:t>root@ubuntu-llm</a:t>
            </a:r>
            <a:r>
              <a:rPr lang="en-US" sz="700" dirty="0">
                <a:solidFill>
                  <a:schemeClr val="tx1"/>
                </a:solidFill>
              </a:rPr>
              <a:t>:~/</a:t>
            </a:r>
            <a:r>
              <a:rPr lang="en-US" sz="700" dirty="0" err="1">
                <a:solidFill>
                  <a:schemeClr val="tx1"/>
                </a:solidFill>
              </a:rPr>
              <a:t>otus-aia</a:t>
            </a:r>
            <a:r>
              <a:rPr lang="en-US" sz="700" dirty="0">
                <a:solidFill>
                  <a:schemeClr val="tx1"/>
                </a:solidFill>
              </a:rPr>
              <a:t>#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b="1" dirty="0">
                <a:solidFill>
                  <a:schemeClr val="tx1"/>
                </a:solidFill>
              </a:rPr>
              <a:t>(.</a:t>
            </a:r>
            <a:r>
              <a:rPr lang="en-US" sz="700" b="1" dirty="0" err="1">
                <a:solidFill>
                  <a:schemeClr val="tx1"/>
                </a:solidFill>
              </a:rPr>
              <a:t>venv</a:t>
            </a:r>
            <a:r>
              <a:rPr lang="en-US" sz="700" b="1" dirty="0">
                <a:solidFill>
                  <a:schemeClr val="tx1"/>
                </a:solidFill>
              </a:rPr>
              <a:t>) </a:t>
            </a:r>
            <a:r>
              <a:rPr lang="en-US" sz="700" b="1" dirty="0" err="1">
                <a:solidFill>
                  <a:schemeClr val="tx1"/>
                </a:solidFill>
              </a:rPr>
              <a:t>root@ubuntu-llm</a:t>
            </a:r>
            <a:r>
              <a:rPr lang="en-US" sz="700" b="1" dirty="0">
                <a:solidFill>
                  <a:schemeClr val="tx1"/>
                </a:solidFill>
              </a:rPr>
              <a:t>:~/</a:t>
            </a:r>
            <a:r>
              <a:rPr lang="en-US" sz="700" b="1" dirty="0" err="1">
                <a:solidFill>
                  <a:schemeClr val="tx1"/>
                </a:solidFill>
              </a:rPr>
              <a:t>otus-aia</a:t>
            </a:r>
            <a:r>
              <a:rPr lang="en-US" sz="700" b="1" dirty="0">
                <a:solidFill>
                  <a:schemeClr val="tx1"/>
                </a:solidFill>
              </a:rPr>
              <a:t># curl -s -X POST http://localhost:8000/ask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b="1" dirty="0">
                <a:solidFill>
                  <a:schemeClr val="tx1"/>
                </a:solidFill>
              </a:rPr>
              <a:t>  -H "Content-Type: application/json"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b="1" dirty="0">
                <a:solidFill>
                  <a:schemeClr val="tx1"/>
                </a:solidFill>
              </a:rPr>
              <a:t>  -d '{"query":"</a:t>
            </a:r>
            <a:r>
              <a:rPr lang="ru-RU" sz="700" b="1" dirty="0">
                <a:solidFill>
                  <a:schemeClr val="tx1"/>
                </a:solidFill>
              </a:rPr>
              <a:t>Секретная методика оценки риска",</a:t>
            </a:r>
            <a:r>
              <a:rPr lang="ru-RU" sz="700" b="1" dirty="0">
                <a:solidFill>
                  <a:schemeClr val="tx1"/>
                </a:solidFill>
                <a:highlight>
                  <a:srgbClr val="FFFF00"/>
                </a:highlight>
              </a:rPr>
              <a:t>"</a:t>
            </a:r>
            <a:r>
              <a:rPr lang="en-US" sz="700" b="1" dirty="0">
                <a:solidFill>
                  <a:schemeClr val="tx1"/>
                </a:solidFill>
                <a:highlight>
                  <a:srgbClr val="FFFF00"/>
                </a:highlight>
              </a:rPr>
              <a:t>role":"</a:t>
            </a:r>
            <a:r>
              <a:rPr lang="en-US" sz="7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risk_manager</a:t>
            </a:r>
            <a:r>
              <a:rPr lang="en-US" sz="700" b="1" dirty="0">
                <a:solidFill>
                  <a:schemeClr val="tx1"/>
                </a:solidFill>
                <a:highlight>
                  <a:srgbClr val="FFFF00"/>
                </a:highlight>
              </a:rPr>
              <a:t>"</a:t>
            </a:r>
            <a:r>
              <a:rPr lang="en-US" sz="700" b="1" dirty="0">
                <a:solidFill>
                  <a:schemeClr val="tx1"/>
                </a:solidFill>
              </a:rPr>
              <a:t>}'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dirty="0">
                <a:solidFill>
                  <a:schemeClr val="tx1"/>
                </a:solidFill>
              </a:rPr>
              <a:t>{"answer":"**PoC </a:t>
            </a:r>
            <a:r>
              <a:rPr lang="en-US" sz="700" dirty="0" err="1">
                <a:solidFill>
                  <a:schemeClr val="tx1"/>
                </a:solidFill>
              </a:rPr>
              <a:t>GraphRAG</a:t>
            </a:r>
            <a:r>
              <a:rPr lang="en-US" sz="700" dirty="0">
                <a:solidFill>
                  <a:schemeClr val="tx1"/>
                </a:solidFill>
              </a:rPr>
              <a:t> (</a:t>
            </a:r>
            <a:r>
              <a:rPr lang="en-US" sz="700" dirty="0" err="1">
                <a:solidFill>
                  <a:schemeClr val="tx1"/>
                </a:solidFill>
              </a:rPr>
              <a:t>MockLLM</a:t>
            </a:r>
            <a:r>
              <a:rPr lang="en-US" sz="700" dirty="0">
                <a:solidFill>
                  <a:schemeClr val="tx1"/>
                </a:solidFill>
              </a:rPr>
              <a:t>)** — </a:t>
            </a:r>
            <a:r>
              <a:rPr lang="ru-RU" sz="700" dirty="0">
                <a:solidFill>
                  <a:schemeClr val="tx1"/>
                </a:solidFill>
              </a:rPr>
              <a:t>роль `</a:t>
            </a:r>
            <a:r>
              <a:rPr lang="en-US" sz="700" dirty="0" err="1">
                <a:solidFill>
                  <a:schemeClr val="tx1"/>
                </a:solidFill>
              </a:rPr>
              <a:t>risk_manager</a:t>
            </a:r>
            <a:r>
              <a:rPr lang="en-US" sz="700" dirty="0">
                <a:solidFill>
                  <a:schemeClr val="tx1"/>
                </a:solidFill>
              </a:rPr>
              <a:t>`, intent `</a:t>
            </a:r>
            <a:r>
              <a:rPr lang="en-US" sz="700" dirty="0" err="1">
                <a:solidFill>
                  <a:schemeClr val="tx1"/>
                </a:solidFill>
              </a:rPr>
              <a:t>risk_analysis</a:t>
            </a:r>
            <a:r>
              <a:rPr lang="en-US" sz="700" dirty="0">
                <a:solidFill>
                  <a:schemeClr val="tx1"/>
                </a:solidFill>
              </a:rPr>
              <a:t>`.\n</a:t>
            </a:r>
            <a:r>
              <a:rPr lang="ru-RU" sz="700" dirty="0">
                <a:solidFill>
                  <a:schemeClr val="tx1"/>
                </a:solidFill>
              </a:rPr>
              <a:t>Запрос: Секретная методика оценки риска\</a:t>
            </a:r>
            <a:r>
              <a:rPr lang="en-US" sz="700" dirty="0">
                <a:solidFill>
                  <a:schemeClr val="tx1"/>
                </a:solidFill>
              </a:rPr>
              <a:t>n\n**</a:t>
            </a:r>
            <a:r>
              <a:rPr lang="ru-RU" sz="700" dirty="0">
                <a:solidFill>
                  <a:schemeClr val="tx1"/>
                </a:solidFill>
              </a:rPr>
              <a:t>Финансовые показатели:**\</a:t>
            </a:r>
            <a:r>
              <a:rPr lang="en-US" sz="700" dirty="0">
                <a:solidFill>
                  <a:schemeClr val="tx1"/>
                </a:solidFill>
              </a:rPr>
              <a:t>n</a:t>
            </a:r>
            <a:r>
              <a:rPr lang="ru-RU" sz="700" dirty="0">
                <a:solidFill>
                  <a:schemeClr val="tx1"/>
                </a:solidFill>
              </a:rPr>
              <a:t>По финансовым данным компании ООО Ромашка выручка снизилась на 38%, прибыль за последний год отрицательная: -3000000 руб.\</a:t>
            </a:r>
            <a:r>
              <a:rPr lang="en-US" sz="700" dirty="0">
                <a:solidFill>
                  <a:schemeClr val="tx1"/>
                </a:solidFill>
              </a:rPr>
              <a:t>n</a:t>
            </a:r>
            <a:r>
              <a:rPr lang="ru-RU" sz="700" dirty="0">
                <a:solidFill>
                  <a:schemeClr val="tx1"/>
                </a:solidFill>
              </a:rPr>
              <a:t>Флаги риска: </a:t>
            </a:r>
            <a:r>
              <a:rPr lang="en-US" sz="700" dirty="0">
                <a:solidFill>
                  <a:schemeClr val="tx1"/>
                </a:solidFill>
              </a:rPr>
              <a:t>revenue_drop_gt_30, </a:t>
            </a:r>
            <a:r>
              <a:rPr lang="en-US" sz="700" dirty="0" err="1">
                <a:solidFill>
                  <a:schemeClr val="tx1"/>
                </a:solidFill>
              </a:rPr>
              <a:t>negative_profit</a:t>
            </a:r>
            <a:r>
              <a:rPr lang="en-US" sz="700" dirty="0">
                <a:solidFill>
                  <a:schemeClr val="tx1"/>
                </a:solidFill>
              </a:rPr>
              <a:t>.\n\n**</a:t>
            </a:r>
            <a:r>
              <a:rPr lang="ru-RU" sz="700" dirty="0">
                <a:solidFill>
                  <a:schemeClr val="tx1"/>
                </a:solidFill>
              </a:rPr>
              <a:t>Вывод:** на основании доступных фрагментов и связей графа знаний предварительный анализ возможен с учётом нормативных и политических оснований.\</a:t>
            </a:r>
            <a:r>
              <a:rPr lang="en-US" sz="700" dirty="0">
                <a:solidFill>
                  <a:schemeClr val="tx1"/>
                </a:solidFill>
              </a:rPr>
              <a:t>n\n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**</a:t>
            </a:r>
            <a:r>
              <a:rPr lang="ru-RU" sz="700" dirty="0">
                <a:solidFill>
                  <a:schemeClr val="tx1"/>
                </a:solidFill>
                <a:highlight>
                  <a:srgbClr val="FFFF00"/>
                </a:highlight>
              </a:rPr>
              <a:t>Источники:**\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n1. [ch_003] </a:t>
            </a:r>
            <a:r>
              <a:rPr lang="ru-RU" sz="700" dirty="0">
                <a:solidFill>
                  <a:schemeClr val="tx1"/>
                </a:solidFill>
                <a:highlight>
                  <a:srgbClr val="FFFF00"/>
                </a:highlight>
              </a:rPr>
              <a:t>Методика оценки финансового риска: Секретная методика внутреннего скоринга использует закрытые коэффициенты риска.…\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n2. [ch_001] </a:t>
            </a:r>
            <a:r>
              <a:rPr lang="ru-RU" sz="700" dirty="0">
                <a:solidFill>
                  <a:schemeClr val="tx1"/>
                </a:solidFill>
                <a:highlight>
                  <a:srgbClr val="FFFF00"/>
                </a:highlight>
              </a:rPr>
              <a:t>Закон о банковской деятельности: Кредитная организация обязана идентифицировать клиента и оценивать риски операций.…\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n3. [ch_002] </a:t>
            </a:r>
            <a:r>
              <a:rPr lang="ru-RU" sz="700" dirty="0">
                <a:solidFill>
                  <a:schemeClr val="tx1"/>
                </a:solidFill>
                <a:highlight>
                  <a:srgbClr val="FFFF00"/>
                </a:highlight>
              </a:rPr>
              <a:t>Внутренняя политика оценки контрагентов: При снижении выручки более чем на 30% аналитик обязан запросить дополнительные документы.…</a:t>
            </a:r>
            <a:r>
              <a:rPr lang="ru-RU" sz="700" dirty="0">
                <a:solidFill>
                  <a:schemeClr val="tx1"/>
                </a:solidFill>
              </a:rPr>
              <a:t>","</a:t>
            </a:r>
            <a:r>
              <a:rPr lang="en-US" sz="700" dirty="0">
                <a:solidFill>
                  <a:schemeClr val="tx1"/>
                </a:solidFill>
              </a:rPr>
              <a:t>citations":[{"chunk_id":3,"external_id":"ch_003","document_title":"</a:t>
            </a:r>
            <a:r>
              <a:rPr lang="ru-RU" sz="700" dirty="0">
                <a:solidFill>
                  <a:schemeClr val="tx1"/>
                </a:solidFill>
              </a:rPr>
              <a:t>Методика оценки финансового риска","</a:t>
            </a:r>
            <a:r>
              <a:rPr lang="en-US" sz="700" dirty="0" err="1">
                <a:solidFill>
                  <a:schemeClr val="tx1"/>
                </a:solidFill>
              </a:rPr>
              <a:t>node_id":null,"node_type":null,"label":null</a:t>
            </a:r>
            <a:r>
              <a:rPr lang="en-US" sz="700" dirty="0">
                <a:solidFill>
                  <a:schemeClr val="tx1"/>
                </a:solidFill>
              </a:rPr>
              <a:t>},{"chunk_id":1,"external_id":"ch_001","document_title":"</a:t>
            </a:r>
            <a:r>
              <a:rPr lang="ru-RU" sz="700" dirty="0">
                <a:solidFill>
                  <a:schemeClr val="tx1"/>
                </a:solidFill>
              </a:rPr>
              <a:t>Закон о банковской деятельности","</a:t>
            </a:r>
            <a:r>
              <a:rPr lang="en-US" sz="700" dirty="0" err="1">
                <a:solidFill>
                  <a:schemeClr val="tx1"/>
                </a:solidFill>
              </a:rPr>
              <a:t>node_id":null,"node_type":null,"label":null</a:t>
            </a:r>
            <a:r>
              <a:rPr lang="en-US" sz="700" dirty="0">
                <a:solidFill>
                  <a:schemeClr val="tx1"/>
                </a:solidFill>
              </a:rPr>
              <a:t>},{"chunk_id":2,"external_id":"ch_002","document_title":"</a:t>
            </a:r>
            <a:r>
              <a:rPr lang="ru-RU" sz="700" dirty="0">
                <a:solidFill>
                  <a:schemeClr val="tx1"/>
                </a:solidFill>
              </a:rPr>
              <a:t>Внутренняя политика оценки контрагентов","</a:t>
            </a:r>
            <a:r>
              <a:rPr lang="en-US" sz="700" dirty="0" err="1">
                <a:solidFill>
                  <a:schemeClr val="tx1"/>
                </a:solidFill>
              </a:rPr>
              <a:t>node_id":null,"node_type":null,"label":null</a:t>
            </a:r>
            <a:r>
              <a:rPr lang="en-US" sz="700" dirty="0">
                <a:solidFill>
                  <a:schemeClr val="tx1"/>
                </a:solidFill>
              </a:rPr>
              <a:t>},{"chunk_id":null,"external_id":null,"document_title":null,"node_id":"company:3455054291","node_type":"Company","label":"</a:t>
            </a:r>
            <a:r>
              <a:rPr lang="ru-RU" sz="700" dirty="0">
                <a:solidFill>
                  <a:schemeClr val="tx1"/>
                </a:solidFill>
              </a:rPr>
              <a:t>ООО Ромашка"},{"</a:t>
            </a:r>
            <a:r>
              <a:rPr lang="en-US" sz="700" dirty="0">
                <a:solidFill>
                  <a:schemeClr val="tx1"/>
                </a:solidFill>
              </a:rPr>
              <a:t>chunk_id":null,"external_id":null,"document_title":null,"node_id":"document:policy_001","node_type":"Document","label":"</a:t>
            </a:r>
            <a:r>
              <a:rPr lang="ru-RU" sz="700" dirty="0">
                <a:solidFill>
                  <a:schemeClr val="tx1"/>
                </a:solidFill>
              </a:rPr>
              <a:t>Внутренняя политика оценки контрагентов"},{"</a:t>
            </a:r>
            <a:r>
              <a:rPr lang="en-US" sz="700" dirty="0">
                <a:solidFill>
                  <a:schemeClr val="tx1"/>
                </a:solidFill>
              </a:rPr>
              <a:t>chunk_id":null,"external_id":null,"document_title":null,"node_id":"document:risk_001","node_type":"Document","label":"</a:t>
            </a:r>
            <a:r>
              <a:rPr lang="ru-RU" sz="700" dirty="0">
                <a:solidFill>
                  <a:schemeClr val="tx1"/>
                </a:solidFill>
              </a:rPr>
              <a:t>Методика оценки финансового риска"},{"</a:t>
            </a:r>
            <a:r>
              <a:rPr lang="en-US" sz="700" dirty="0">
                <a:solidFill>
                  <a:schemeClr val="tx1"/>
                </a:solidFill>
              </a:rPr>
              <a:t>chunk_id":null,"external_id":null,"document_title":null,"node_id":"legal_act:banking_law","node_type":"LegalAct","label":"</a:t>
            </a:r>
            <a:r>
              <a:rPr lang="ru-RU" sz="700" dirty="0">
                <a:solidFill>
                  <a:schemeClr val="tx1"/>
                </a:solidFill>
              </a:rPr>
              <a:t>Закон о банковской деятельности"},{"</a:t>
            </a:r>
            <a:r>
              <a:rPr lang="en-US" sz="700" dirty="0">
                <a:solidFill>
                  <a:schemeClr val="tx1"/>
                </a:solidFill>
              </a:rPr>
              <a:t>chunk_id":null,"external_id":null,"document_title":null,"node_id":"risk_factor:revenue_drop","node_type":"RiskFactor","label":"</a:t>
            </a:r>
            <a:r>
              <a:rPr lang="ru-RU" sz="700" dirty="0">
                <a:solidFill>
                  <a:schemeClr val="tx1"/>
                </a:solidFill>
              </a:rPr>
              <a:t>Снижение выручки &gt; 30%"}],"</a:t>
            </a:r>
            <a:r>
              <a:rPr lang="en-US" sz="700" dirty="0">
                <a:solidFill>
                  <a:schemeClr val="tx1"/>
                </a:solidFill>
              </a:rPr>
              <a:t>trace_id":"c2c9c4c9daa6c7bd4749f864265253ce","blocked":false,"reason":null,"audit_steps":["</a:t>
            </a:r>
            <a:r>
              <a:rPr lang="en-US" sz="700" dirty="0" err="1">
                <a:solidFill>
                  <a:schemeClr val="tx1"/>
                </a:solidFill>
              </a:rPr>
              <a:t>input_guardrails</a:t>
            </a:r>
            <a:r>
              <a:rPr lang="en-US" sz="700" dirty="0">
                <a:solidFill>
                  <a:schemeClr val="tx1"/>
                </a:solidFill>
              </a:rPr>
              <a:t>: ok","</a:t>
            </a:r>
            <a:r>
              <a:rPr lang="en-US" sz="700" dirty="0" err="1">
                <a:solidFill>
                  <a:schemeClr val="tx1"/>
                </a:solidFill>
              </a:rPr>
              <a:t>classify_intent</a:t>
            </a:r>
            <a:r>
              <a:rPr lang="en-US" sz="700" dirty="0">
                <a:solidFill>
                  <a:schemeClr val="tx1"/>
                </a:solidFill>
              </a:rPr>
              <a:t>: risk_analysis","</a:t>
            </a:r>
            <a:r>
              <a:rPr lang="en-US" sz="700" dirty="0" err="1">
                <a:solidFill>
                  <a:schemeClr val="tx1"/>
                </a:solidFill>
              </a:rPr>
              <a:t>financial_lookup</a:t>
            </a:r>
            <a:r>
              <a:rPr lang="en-US" sz="700" dirty="0">
                <a:solidFill>
                  <a:schemeClr val="tx1"/>
                </a:solidFill>
              </a:rPr>
              <a:t>: 2 risk flags","</a:t>
            </a:r>
            <a:r>
              <a:rPr lang="en-US" sz="700" dirty="0" err="1">
                <a:solidFill>
                  <a:schemeClr val="tx1"/>
                </a:solidFill>
              </a:rPr>
              <a:t>vector_retrieve</a:t>
            </a:r>
            <a:r>
              <a:rPr lang="en-US" sz="700" dirty="0">
                <a:solidFill>
                  <a:schemeClr val="tx1"/>
                </a:solidFill>
              </a:rPr>
              <a:t>: 3 chunks","</a:t>
            </a:r>
            <a:r>
              <a:rPr lang="en-US" sz="700" dirty="0" err="1">
                <a:solidFill>
                  <a:schemeClr val="tx1"/>
                </a:solidFill>
              </a:rPr>
              <a:t>graph_expand</a:t>
            </a:r>
            <a:r>
              <a:rPr lang="en-US" sz="700" dirty="0">
                <a:solidFill>
                  <a:schemeClr val="tx1"/>
                </a:solidFill>
              </a:rPr>
              <a:t>: 8 nodes, 5 graph chunks",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"</a:t>
            </a:r>
            <a:r>
              <a:rPr lang="en-US" sz="700" dirty="0" err="1">
                <a:solidFill>
                  <a:schemeClr val="tx1"/>
                </a:solidFill>
                <a:highlight>
                  <a:srgbClr val="FFFF00"/>
                </a:highlight>
              </a:rPr>
              <a:t>rbac_filter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: 3/3 allowed","</a:t>
            </a:r>
            <a:r>
              <a:rPr lang="en-US" sz="700" dirty="0" err="1">
                <a:solidFill>
                  <a:schemeClr val="tx1"/>
                </a:solidFill>
                <a:highlight>
                  <a:srgbClr val="FFFF00"/>
                </a:highlight>
              </a:rPr>
              <a:t>rerank</a:t>
            </a:r>
            <a:r>
              <a:rPr lang="en-US" sz="700" dirty="0">
                <a:solidFill>
                  <a:schemeClr val="tx1"/>
                </a:solidFill>
                <a:highlight>
                  <a:srgbClr val="FFFF00"/>
                </a:highlight>
              </a:rPr>
              <a:t>: 3 ranked"</a:t>
            </a:r>
            <a:r>
              <a:rPr lang="en-US" sz="700" dirty="0">
                <a:solidFill>
                  <a:schemeClr val="tx1"/>
                </a:solidFill>
              </a:rPr>
              <a:t>,"generate_answer","</a:t>
            </a:r>
            <a:r>
              <a:rPr lang="en-US" sz="700" dirty="0" err="1">
                <a:solidFill>
                  <a:schemeClr val="tx1"/>
                </a:solidFill>
              </a:rPr>
              <a:t>output_guardrails</a:t>
            </a:r>
            <a:r>
              <a:rPr lang="en-US" sz="700" dirty="0">
                <a:solidFill>
                  <a:schemeClr val="tx1"/>
                </a:solidFill>
              </a:rPr>
              <a:t>: ok"],"intent":"risk_analysis","</a:t>
            </a:r>
            <a:r>
              <a:rPr lang="en-US" sz="700" dirty="0" err="1">
                <a:solidFill>
                  <a:schemeClr val="tx1"/>
                </a:solidFill>
              </a:rPr>
              <a:t>financial_facts</a:t>
            </a:r>
            <a:r>
              <a:rPr lang="en-US" sz="700" dirty="0">
                <a:solidFill>
                  <a:schemeClr val="tx1"/>
                </a:solidFill>
              </a:rPr>
              <a:t>":{"inn":"7700000001","company_name":"</a:t>
            </a:r>
            <a:r>
              <a:rPr lang="ru-RU" sz="700" dirty="0">
                <a:solidFill>
                  <a:schemeClr val="tx1"/>
                </a:solidFill>
              </a:rPr>
              <a:t>ООО Ромашка","</a:t>
            </a:r>
            <a:r>
              <a:rPr lang="en-US" sz="700" dirty="0">
                <a:solidFill>
                  <a:schemeClr val="tx1"/>
                </a:solidFill>
              </a:rPr>
              <a:t>revenue_2023":100000000,"revenue_2024":62000000,"revenue_drop_pct":38,"profit_2024":-3000000,"risk_flags":["revenue_drop_gt_30","negative_profit"]}}(.</a:t>
            </a:r>
            <a:r>
              <a:rPr lang="en-US" sz="700" dirty="0" err="1">
                <a:solidFill>
                  <a:schemeClr val="tx1"/>
                </a:solidFill>
              </a:rPr>
              <a:t>venv</a:t>
            </a:r>
            <a:r>
              <a:rPr lang="en-US" sz="700" dirty="0">
                <a:solidFill>
                  <a:schemeClr val="tx1"/>
                </a:solidFill>
              </a:rPr>
              <a:t>) </a:t>
            </a:r>
            <a:r>
              <a:rPr lang="en-US" sz="700" dirty="0" err="1">
                <a:solidFill>
                  <a:schemeClr val="tx1"/>
                </a:solidFill>
              </a:rPr>
              <a:t>root@ubuntu-llm</a:t>
            </a:r>
            <a:r>
              <a:rPr lang="en-US" sz="700" dirty="0">
                <a:solidFill>
                  <a:schemeClr val="tx1"/>
                </a:solidFill>
              </a:rPr>
              <a:t>:~/</a:t>
            </a:r>
            <a:r>
              <a:rPr lang="en-US" sz="700" dirty="0" err="1">
                <a:solidFill>
                  <a:schemeClr val="tx1"/>
                </a:solidFill>
              </a:rPr>
              <a:t>otus-aia</a:t>
            </a:r>
            <a:r>
              <a:rPr lang="en-US" sz="700" dirty="0">
                <a:solidFill>
                  <a:schemeClr val="tx1"/>
                </a:solidFill>
              </a:rPr>
              <a:t>#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700" dirty="0">
                <a:solidFill>
                  <a:schemeClr val="tx1"/>
                </a:solidFill>
              </a:rPr>
              <a:t>(.</a:t>
            </a:r>
            <a:r>
              <a:rPr lang="en-US" sz="700" dirty="0" err="1">
                <a:solidFill>
                  <a:schemeClr val="tx1"/>
                </a:solidFill>
              </a:rPr>
              <a:t>venv</a:t>
            </a:r>
            <a:r>
              <a:rPr lang="en-US" sz="700" dirty="0">
                <a:solidFill>
                  <a:schemeClr val="tx1"/>
                </a:solidFill>
              </a:rPr>
              <a:t>) </a:t>
            </a:r>
            <a:r>
              <a:rPr lang="en-US" sz="700" dirty="0" err="1">
                <a:solidFill>
                  <a:schemeClr val="tx1"/>
                </a:solidFill>
              </a:rPr>
              <a:t>root@ubuntu-llm</a:t>
            </a:r>
            <a:r>
              <a:rPr lang="en-US" sz="700" dirty="0">
                <a:solidFill>
                  <a:schemeClr val="tx1"/>
                </a:solidFill>
              </a:rPr>
              <a:t>:~/</a:t>
            </a:r>
            <a:r>
              <a:rPr lang="en-US" sz="700" dirty="0" err="1">
                <a:solidFill>
                  <a:schemeClr val="tx1"/>
                </a:solidFill>
              </a:rPr>
              <a:t>otus-aia</a:t>
            </a:r>
            <a:r>
              <a:rPr lang="en-US" sz="700" dirty="0">
                <a:solidFill>
                  <a:schemeClr val="tx1"/>
                </a:solidFill>
              </a:rPr>
              <a:t>#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22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MVP: </a:t>
            </a:r>
            <a:r>
              <a:rPr lang="ru-RU" sz="2800" dirty="0"/>
              <a:t>ландшафт</a:t>
            </a:r>
            <a:endParaRPr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974523-5803-4109-B620-9FA7BF48E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06" y="1242770"/>
            <a:ext cx="8520601" cy="28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47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/>
              <a:t>MVP</a:t>
            </a:r>
            <a:r>
              <a:rPr lang="ru-RU" sz="2600" dirty="0"/>
              <a:t>:</a:t>
            </a:r>
            <a:r>
              <a:rPr lang="en-US" sz="2600" dirty="0"/>
              <a:t> AI-</a:t>
            </a:r>
            <a:r>
              <a:rPr lang="ru-RU" sz="2600" dirty="0"/>
              <a:t>платформа кредитного анализа в фокусе</a:t>
            </a:r>
            <a:endParaRPr sz="2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C1C50A-1B40-4C15-A144-82B59E705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57" y="636107"/>
            <a:ext cx="6665686" cy="445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97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MVP: Secure </a:t>
            </a:r>
            <a:r>
              <a:rPr lang="en-US" sz="2800" dirty="0" err="1"/>
              <a:t>GraphRAG</a:t>
            </a:r>
            <a:r>
              <a:rPr lang="en-US" sz="2800" dirty="0"/>
              <a:t> Runtime </a:t>
            </a:r>
            <a:r>
              <a:rPr lang="ru-RU" sz="2800" dirty="0"/>
              <a:t>в фокусе</a:t>
            </a:r>
            <a:endParaRPr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01E410-2A57-4750-A51D-C49071F69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18" y="641350"/>
            <a:ext cx="7614163" cy="450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2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87800" y="25338"/>
            <a:ext cx="8520600" cy="61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MVP: Knowledge Ingestion Pipeline </a:t>
            </a:r>
            <a:r>
              <a:rPr lang="ru-RU" sz="2800" dirty="0"/>
              <a:t>в фокусе</a:t>
            </a:r>
            <a:endParaRPr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FB8681-CBDE-4F37-A1FD-0D8E9E225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067" y="636107"/>
            <a:ext cx="5000065" cy="422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51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6AC8E2-214A-4C0A-9C9C-4538B4C89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1838</Words>
  <Application>Microsoft Office PowerPoint</Application>
  <PresentationFormat>Экран (16:9)</PresentationFormat>
  <Paragraphs>64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Arial</vt:lpstr>
      <vt:lpstr>Courier New</vt:lpstr>
      <vt:lpstr>Roboto Medium</vt:lpstr>
      <vt:lpstr>Consolas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AI-ассистент кредитного аналитика     </vt:lpstr>
      <vt:lpstr>План защиты</vt:lpstr>
      <vt:lpstr>Презентация PowerPoint</vt:lpstr>
      <vt:lpstr>Презентация PowerPoint</vt:lpstr>
      <vt:lpstr>Презентация PowerPoint</vt:lpstr>
      <vt:lpstr>Презентация PowerPoint</vt:lpstr>
      <vt:lpstr>Архитектура PoC: контекст системы</vt:lpstr>
      <vt:lpstr>Архитектура PoC: контейнеры</vt:lpstr>
      <vt:lpstr>Архитектура PoC: компоненты FastAPI Backend</vt:lpstr>
      <vt:lpstr>Архитектура PoC: sequence diagram</vt:lpstr>
      <vt:lpstr>PoC: сокращенный код основного workflow</vt:lpstr>
      <vt:lpstr>PoC: результат запуска</vt:lpstr>
      <vt:lpstr>MVP: ландшафт</vt:lpstr>
      <vt:lpstr>MVP: AI-платформа кредитного анализа в фокусе</vt:lpstr>
      <vt:lpstr>MVP: Secure GraphRAG Runtime в фокусе</vt:lpstr>
      <vt:lpstr>MVP: Knowledge Ingestion Pipeline в фокусе</vt:lpstr>
      <vt:lpstr>Презентация PowerPoint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User1</dc:creator>
  <cp:lastModifiedBy>User1</cp:lastModifiedBy>
  <cp:revision>24</cp:revision>
  <dcterms:modified xsi:type="dcterms:W3CDTF">2026-06-03T16:37:27Z</dcterms:modified>
</cp:coreProperties>
</file>